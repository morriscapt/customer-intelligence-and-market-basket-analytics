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Annual Sales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A7-4B6C-B33C-F068DB44649A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A7-4B6C-B33C-F068DB44649A}"/>
              </c:ext>
            </c:extLst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A7-4B6C-B33C-F068DB4464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2018</c:v>
                </c:pt>
                <c:pt idx="1">
                  <c:v>2019</c:v>
                </c:pt>
                <c:pt idx="2">
                  <c:v>2020 (Jan-May)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3353014</c:v>
                </c:pt>
                <c:pt idx="1">
                  <c:v>4669925</c:v>
                </c:pt>
                <c:pt idx="2">
                  <c:v>1737283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AA7-4B6C-B33C-F068DB4464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Quarterly Sales Breakdown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Sales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2018 Q1</c:v>
                </c:pt>
                <c:pt idx="1">
                  <c:v>2018 Q2</c:v>
                </c:pt>
                <c:pt idx="2">
                  <c:v>2018 Q3</c:v>
                </c:pt>
                <c:pt idx="3">
                  <c:v>2018 Q4</c:v>
                </c:pt>
                <c:pt idx="4">
                  <c:v>2019 Q1</c:v>
                </c:pt>
                <c:pt idx="5">
                  <c:v>2019 Q2</c:v>
                </c:pt>
                <c:pt idx="6">
                  <c:v>2019 Q3</c:v>
                </c:pt>
                <c:pt idx="7">
                  <c:v>2019 Q4</c:v>
                </c:pt>
                <c:pt idx="8">
                  <c:v>2020 Q1</c:v>
                </c:pt>
                <c:pt idx="9">
                  <c:v>2020 Q2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426399</c:v>
                </c:pt>
                <c:pt idx="1">
                  <c:v>562365</c:v>
                </c:pt>
                <c:pt idx="2">
                  <c:v>649515</c:v>
                </c:pt>
                <c:pt idx="3">
                  <c:v>1714735</c:v>
                </c:pt>
                <c:pt idx="4">
                  <c:v>809841</c:v>
                </c:pt>
                <c:pt idx="5">
                  <c:v>766261</c:v>
                </c:pt>
                <c:pt idx="6">
                  <c:v>1109396</c:v>
                </c:pt>
                <c:pt idx="7">
                  <c:v>1984426</c:v>
                </c:pt>
                <c:pt idx="8">
                  <c:v>1017789</c:v>
                </c:pt>
                <c:pt idx="9">
                  <c:v>719494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B6-4B93-BC04-A41F7869D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Sales by Product Line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9C-44F7-8595-94F2B2F53D88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9C-44F7-8595-94F2B2F53D88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9C-44F7-8595-94F2B2F53D88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9C-44F7-8595-94F2B2F53D88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F9C-44F7-8595-94F2B2F53D88}"/>
              </c:ext>
            </c:extLst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F9C-44F7-8595-94F2B2F53D88}"/>
              </c:ext>
            </c:extLst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F9C-44F7-8595-94F2B2F53D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Classic Cars</c:v>
                </c:pt>
                <c:pt idx="1">
                  <c:v>Vintage Cars</c:v>
                </c:pt>
                <c:pt idx="2">
                  <c:v>Trucks &amp; Buses</c:v>
                </c:pt>
                <c:pt idx="3">
                  <c:v>Motorcycles</c:v>
                </c:pt>
                <c:pt idx="4">
                  <c:v>Planes</c:v>
                </c:pt>
                <c:pt idx="5">
                  <c:v>Ships</c:v>
                </c:pt>
                <c:pt idx="6">
                  <c:v>Trains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3842869</c:v>
                </c:pt>
                <c:pt idx="1">
                  <c:v>1806676</c:v>
                </c:pt>
                <c:pt idx="2">
                  <c:v>1111559</c:v>
                </c:pt>
                <c:pt idx="3">
                  <c:v>1103512</c:v>
                </c:pt>
                <c:pt idx="4">
                  <c:v>969323</c:v>
                </c:pt>
                <c:pt idx="5">
                  <c:v>700039</c:v>
                </c:pt>
                <c:pt idx="6">
                  <c:v>226243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F9C-44F7-8595-94F2B2F53D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Revenue by Deal Size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Deal 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FF-4CBD-9813-DC8284521D25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FF-4CBD-9813-DC8284521D25}"/>
              </c:ext>
            </c:extLst>
          </c:dPt>
          <c:dPt>
            <c:idx val="2"/>
            <c:bubble3D val="0"/>
            <c:spPr>
              <a:solidFill>
                <a:srgbClr val="F4A7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FF-4CBD-9813-DC8284521D2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FF-4CBD-9813-DC8284521D2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FF-4CBD-9813-DC8284521D2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FF-4CBD-9813-DC8284521D2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Small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5931231</c:v>
                </c:pt>
                <c:pt idx="1">
                  <c:v>2570034</c:v>
                </c:pt>
                <c:pt idx="2">
                  <c:v>1258956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FF-4CBD-9813-DC8284521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Top 8 Countries by Revenue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25-42E6-B081-CAEC29C83B28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25-42E6-B081-CAEC29C83B28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25-42E6-B081-CAEC29C83B28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25-42E6-B081-CAEC29C83B28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25-42E6-B081-CAEC29C83B28}"/>
              </c:ext>
            </c:extLst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A25-42E6-B081-CAEC29C83B28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A25-42E6-B081-CAEC29C83B28}"/>
              </c:ext>
            </c:extLst>
          </c:dPt>
          <c:dPt>
            <c:idx val="7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A25-42E6-B081-CAEC29C83B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USA</c:v>
                </c:pt>
                <c:pt idx="1">
                  <c:v>Spain</c:v>
                </c:pt>
                <c:pt idx="2">
                  <c:v>France</c:v>
                </c:pt>
                <c:pt idx="3">
                  <c:v>Australia</c:v>
                </c:pt>
                <c:pt idx="4">
                  <c:v>UK</c:v>
                </c:pt>
                <c:pt idx="5">
                  <c:v>Italy</c:v>
                </c:pt>
                <c:pt idx="6">
                  <c:v>Finland</c:v>
                </c:pt>
                <c:pt idx="7">
                  <c:v>Norway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3355576</c:v>
                </c:pt>
                <c:pt idx="1">
                  <c:v>1215687</c:v>
                </c:pt>
                <c:pt idx="2">
                  <c:v>1110917</c:v>
                </c:pt>
                <c:pt idx="3">
                  <c:v>630623</c:v>
                </c:pt>
                <c:pt idx="4">
                  <c:v>478880</c:v>
                </c:pt>
                <c:pt idx="5">
                  <c:v>374674</c:v>
                </c:pt>
                <c:pt idx="6">
                  <c:v>329582</c:v>
                </c:pt>
                <c:pt idx="7">
                  <c:v>307464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A25-42E6-B081-CAEC29C83B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Monthly Sales 2018 vs 2019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129754</c:v>
                </c:pt>
                <c:pt idx="1">
                  <c:v>140836</c:v>
                </c:pt>
                <c:pt idx="2">
                  <c:v>155809</c:v>
                </c:pt>
                <c:pt idx="3">
                  <c:v>201610</c:v>
                </c:pt>
                <c:pt idx="4">
                  <c:v>192673</c:v>
                </c:pt>
                <c:pt idx="5">
                  <c:v>168083</c:v>
                </c:pt>
                <c:pt idx="6">
                  <c:v>187732</c:v>
                </c:pt>
                <c:pt idx="7">
                  <c:v>197809</c:v>
                </c:pt>
                <c:pt idx="8">
                  <c:v>263973</c:v>
                </c:pt>
                <c:pt idx="9">
                  <c:v>448453</c:v>
                </c:pt>
                <c:pt idx="10">
                  <c:v>1029838</c:v>
                </c:pt>
                <c:pt idx="11">
                  <c:v>236445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BC-4718-BB73-5F58DBCCF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292688</c:v>
                </c:pt>
                <c:pt idx="1">
                  <c:v>311420</c:v>
                </c:pt>
                <c:pt idx="2">
                  <c:v>205734</c:v>
                </c:pt>
                <c:pt idx="3">
                  <c:v>206148</c:v>
                </c:pt>
                <c:pt idx="4">
                  <c:v>273438</c:v>
                </c:pt>
                <c:pt idx="5">
                  <c:v>286674</c:v>
                </c:pt>
                <c:pt idx="6">
                  <c:v>327144</c:v>
                </c:pt>
                <c:pt idx="7">
                  <c:v>461501</c:v>
                </c:pt>
                <c:pt idx="8">
                  <c:v>320751</c:v>
                </c:pt>
                <c:pt idx="9">
                  <c:v>552924</c:v>
                </c:pt>
                <c:pt idx="10">
                  <c:v>1058699</c:v>
                </c:pt>
                <c:pt idx="11">
                  <c:v>372803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BC-4718-BB73-5F58DBCCF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Order Status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A1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D4-4566-85EE-B8538E2B053C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D4-4566-85EE-B8538E2B053C}"/>
              </c:ext>
            </c:extLst>
          </c:dPt>
          <c:dPt>
            <c:idx val="2"/>
            <c:bubble3D val="0"/>
            <c:spPr>
              <a:solidFill>
                <a:srgbClr val="F4A7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D4-4566-85EE-B8538E2B053C}"/>
              </c:ext>
            </c:extLst>
          </c:dPt>
          <c:dPt>
            <c:idx val="3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D4-4566-85EE-B8538E2B053C}"/>
              </c:ext>
            </c:extLst>
          </c:dPt>
          <c:dPt>
            <c:idx val="4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D4-4566-85EE-B8538E2B053C}"/>
              </c:ext>
            </c:extLst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D4-4566-85EE-B8538E2B053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D4-4566-85EE-B8538E2B053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D4-4566-85EE-B8538E2B053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D4-4566-85EE-B8538E2B053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D4-4566-85EE-B8538E2B053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5D4-4566-85EE-B8538E2B053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5D4-4566-85EE-B8538E2B053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Shipped</c:v>
                </c:pt>
                <c:pt idx="1">
                  <c:v>In Process</c:v>
                </c:pt>
                <c:pt idx="2">
                  <c:v>On Hold</c:v>
                </c:pt>
                <c:pt idx="3">
                  <c:v>Resolved</c:v>
                </c:pt>
                <c:pt idx="4">
                  <c:v>Cancelled</c:v>
                </c:pt>
                <c:pt idx="5">
                  <c:v>Disputed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2541</c:v>
                </c:pt>
                <c:pt idx="1">
                  <c:v>41</c:v>
                </c:pt>
                <c:pt idx="2">
                  <c:v>44</c:v>
                </c:pt>
                <c:pt idx="3">
                  <c:v>47</c:v>
                </c:pt>
                <c:pt idx="4">
                  <c:v>60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5D4-4566-85EE-B8538E2B05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Order Count by Deal Size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0C-41BF-882B-722151ECF825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0C-41BF-882B-722151ECF825}"/>
              </c:ext>
            </c:extLst>
          </c:dPt>
          <c:dPt>
            <c:idx val="2"/>
            <c:invertIfNegative val="0"/>
            <c:bubble3D val="0"/>
            <c:spPr>
              <a:solidFill>
                <a:srgbClr val="F4A7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0C-41BF-882B-722151ECF8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1282</c:v>
                </c:pt>
                <c:pt idx="1">
                  <c:v>1399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0C-41BF-882B-722151ECF8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Average Order Value by Product Line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48-43DD-A326-2B39B9D840B1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48-43DD-A326-2B39B9D840B1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48-43DD-A326-2B39B9D840B1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48-43DD-A326-2B39B9D840B1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48-43DD-A326-2B39B9D840B1}"/>
              </c:ext>
            </c:extLst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48-43DD-A326-2B39B9D840B1}"/>
              </c:ext>
            </c:extLst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048-43DD-A326-2B39B9D840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Classic Cars</c:v>
                </c:pt>
                <c:pt idx="1">
                  <c:v>Vintage Cars</c:v>
                </c:pt>
                <c:pt idx="2">
                  <c:v>Trucks &amp; Buses</c:v>
                </c:pt>
                <c:pt idx="3">
                  <c:v>Motorcycles</c:v>
                </c:pt>
                <c:pt idx="4">
                  <c:v>Planes</c:v>
                </c:pt>
                <c:pt idx="5">
                  <c:v>Ships</c:v>
                </c:pt>
                <c:pt idx="6">
                  <c:v>Trains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4049</c:v>
                </c:pt>
                <c:pt idx="1">
                  <c:v>3120</c:v>
                </c:pt>
                <c:pt idx="2">
                  <c:v>3768</c:v>
                </c:pt>
                <c:pt idx="3">
                  <c:v>3525</c:v>
                </c:pt>
                <c:pt idx="4">
                  <c:v>3189</c:v>
                </c:pt>
                <c:pt idx="5">
                  <c:v>3043</c:v>
                </c:pt>
                <c:pt idx="6">
                  <c:v>2939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048-43DD-A326-2B39B9D840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Customers per Segment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69-4AF3-8248-AF3EAE998213}"/>
              </c:ext>
            </c:extLst>
          </c:dPt>
          <c:dPt>
            <c:idx val="1"/>
            <c:invertIfNegative val="0"/>
            <c:bubble3D val="0"/>
            <c:spPr>
              <a:solidFill>
                <a:srgbClr val="38A1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69-4AF3-8248-AF3EAE998213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69-4AF3-8248-AF3EAE998213}"/>
              </c:ext>
            </c:extLst>
          </c:dPt>
          <c:dPt>
            <c:idx val="3"/>
            <c:invertIfNegative val="0"/>
            <c:bubble3D val="0"/>
            <c:spPr>
              <a:solidFill>
                <a:srgbClr val="F4A7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69-4AF3-8248-AF3EAE9982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Lost Customers</c:v>
                </c:pt>
                <c:pt idx="1">
                  <c:v>Best Customers</c:v>
                </c:pt>
                <c:pt idx="2">
                  <c:v>Loyal Customers</c:v>
                </c:pt>
                <c:pt idx="3">
                  <c:v>At Risk / Churning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24</c:v>
                </c:pt>
                <c:pt idx="2">
                  <c:v>19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269-4AF3-8248-AF3EAE9982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72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217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840480" y="4389120"/>
            <a:ext cx="5303520" cy="75438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Sales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Marketing 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554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Parts Manufacturing Company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Transaction Analysis  |  2018 – 2020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overview of this business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029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937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buying patterns &amp; segment 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5029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377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variables, statistics &amp; assumptions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5029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3776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931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across time, geography &amp; product lines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5029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8289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scoring &amp; KNIME workflow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5029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8289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Insights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loyal, at-risk &amp; lost customers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474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46320" y="3474720"/>
            <a:ext cx="5029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82896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931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marketing strategies per segment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An automobile parts company seeks data-driven insights to understand 3 years of customer transactions, segment customers, and build targeted marketing strategies using RFM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automobile parts manufacturing company collected transactional data over 3 years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lack an in-house data science team to interpret the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identify which customers are valuable vs. at-risk vs. lost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 undifferentiated — no personalisation per customer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customer buying patterns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using RFM analysis (4 segments)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customised marketing strategies per segment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834640" cy="1828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Team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C-Suite Executives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Success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926080"/>
            <a:ext cx="2834640" cy="1920240"/>
          </a:xfrm>
          <a:prstGeom prst="rect">
            <a:avLst/>
          </a:prstGeom>
          <a:solidFill>
            <a:srgbClr val="F1F4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1264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Constraints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Shipped orders used for RFM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date = latest order 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customer segments defined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KNIME used for segmentation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variables and summary statistics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64008" cy="868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731520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057400" y="73152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9456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94560" y="1252728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731520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749040" y="731520"/>
            <a:ext cx="64008" cy="868680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8620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86200" y="1252728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731520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40680" y="731520"/>
            <a:ext cx="64008" cy="86868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7784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77840" y="1252728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731520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132320" y="731520"/>
            <a:ext cx="64008" cy="8686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26948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9480" y="1252728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5303520" cy="2834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 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 amount per order 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order was placed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DAYS_SINCE_LASTORDER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elapsed since customer's last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(7 lines)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size: Small / Medium / 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 (Shipped, Cancelled, etc.)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Manufacturer's suggested retail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ordering 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943600" y="173736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5943600" y="1737360"/>
            <a:ext cx="292608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03504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0350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missing values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0350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 order status types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0350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numeric fields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0350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ORDERDATE is Excel serial number format — converted to dates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350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2020 data covers Jan–May only (partial year)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0350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RFM computed on 'Shipped' orders only (2,541 rows)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03504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Snapshot date = 31 May 2020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Yearly &amp; Quarterly Sales Trends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across 3 years with strong Q4 seasonality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8229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749040"/>
            <a:ext cx="274320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50292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growth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4133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revenue from 2018 to 2019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3749040"/>
            <a:ext cx="274320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342900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dominates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4133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peaks &gt; $1M both years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749040"/>
            <a:ext cx="274320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635508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on track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55080" y="4133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$1.74M in just 5 months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Product Line &amp; Deal Size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lead revenue; Medium deals account for the largest share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486400" y="822960"/>
          <a:ext cx="3383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31920"/>
            <a:ext cx="2743200" cy="822960"/>
          </a:xfrm>
          <a:prstGeom prst="rect">
            <a:avLst/>
          </a:prstGeom>
          <a:solidFill>
            <a:srgbClr val="F1F4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5"/>
          <p:cNvSpPr/>
          <p:nvPr/>
        </p:nvSpPr>
        <p:spPr>
          <a:xfrm>
            <a:off x="365760" y="3931920"/>
            <a:ext cx="64008" cy="82296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50292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= 39%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4315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— highest-value product line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91840" y="3931920"/>
            <a:ext cx="2743200" cy="822960"/>
          </a:xfrm>
          <a:prstGeom prst="rect">
            <a:avLst/>
          </a:prstGeom>
          <a:solidFill>
            <a:srgbClr val="F1F4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3291840" y="3931920"/>
            <a:ext cx="64008" cy="82296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342900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= 2.3%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4315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contributor; niche market segment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3931920"/>
            <a:ext cx="2743200" cy="822960"/>
          </a:xfrm>
          <a:prstGeom prst="rect">
            <a:avLst/>
          </a:prstGeom>
          <a:solidFill>
            <a:srgbClr val="F1F4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217920" y="3931920"/>
            <a:ext cx="64008" cy="82296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35508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deals = 61%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55080" y="4315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revenue; key focus for upselling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Geographic Distribution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 by a wide margin; European markets are significant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91440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035040" y="914400"/>
            <a:ext cx="64008" cy="868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172200" y="1024128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$3.36M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172200" y="1435608"/>
            <a:ext cx="265176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Revenue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192024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035040" y="192024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172200" y="2029968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172200" y="2441448"/>
            <a:ext cx="265176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share of total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92608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035040" y="2926080"/>
            <a:ext cx="64008" cy="86868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172200" y="3035808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172200" y="3447288"/>
            <a:ext cx="265176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393192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035040" y="3931920"/>
            <a:ext cx="64008" cy="8686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172200" y="4041648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€EUR zone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172200" y="4453128"/>
            <a:ext cx="265176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largest market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Monthly Sales Trends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November peaks and consistent growth in 2019 vs 2018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605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4160520"/>
            <a:ext cx="64008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02920" y="4206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Peak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4498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consistently exceeds $1M — key sales month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1840" y="41605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291840" y="4160520"/>
            <a:ext cx="64008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429000" y="4206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2019 Surge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29000" y="4498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Jan–Feb 2019 revenue doubled vs 2018 same period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41605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217920" y="4160520"/>
            <a:ext cx="64008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355080" y="4206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Aug–Oct Rise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55080" y="4498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late-year ramp in both years; pre-Nov demand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Order Status &amp; Deal Size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orders shipped; Medium deals dominate volume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822960"/>
          <a:ext cx="4206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023360"/>
            <a:ext cx="2743200" cy="868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45720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7200" y="4434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successfully shipped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4023360"/>
            <a:ext cx="2743200" cy="868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338328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4434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— low but warrants monitoring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4023360"/>
            <a:ext cx="2743200" cy="868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630936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deals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309360" y="4434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2.4% of orders — high-value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Pricing &amp; MSRP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insights driving RFM monetary values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82296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760720" y="822960"/>
            <a:ext cx="64008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897880" y="932688"/>
            <a:ext cx="2926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$3,553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897880" y="1316736"/>
            <a:ext cx="2926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78308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760720" y="1783080"/>
            <a:ext cx="64008" cy="8229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897880" y="1892808"/>
            <a:ext cx="2926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897880" y="2276856"/>
            <a:ext cx="2926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 value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74320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760720" y="2743200"/>
            <a:ext cx="64008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897880" y="2852928"/>
            <a:ext cx="2926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$14,083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897880" y="3236976"/>
            <a:ext cx="2926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order value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70332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760720" y="3703320"/>
            <a:ext cx="64008" cy="82296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897880" y="3813048"/>
            <a:ext cx="2926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$3,185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897880" y="4197096"/>
            <a:ext cx="2926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order value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F1F4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365760" y="4023360"/>
            <a:ext cx="64008" cy="86868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02920" y="4069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Classic Cars command a 27% premium over average order value, justifying higher acquisition budgets for these customers. Large MSRP products correlate with Large deal size, indicating price-driven segmentation. The wide range ($482–$14,083) supports tailored pricing strategies per customer segment.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Analysis: Methodology &amp; KNIME Workflow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customers on Recency, Frequency and Monetary value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743200" cy="1737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customer's last purchase.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 (scored 1–4, 4 = most recent)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822960"/>
            <a:ext cx="2743200" cy="1737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91840" y="868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unique orders placed.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(scored 1–4, 4 = most frequent)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822960"/>
            <a:ext cx="2743200" cy="173736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17920" y="868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by the customer.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(scored 1–4, 4 = highest spend)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5303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Segmentation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Quartile-based scoring: each dimension scored 1 (lowest) to 4 (highest)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'Shipped' orders used — 2,541 of 2,747 transactions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date = 31 May 2020 (latest order date in dataset)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Customers: R≥3, F≥3, M≥3  |  Loyal: R≥3, F≥2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Risk: R≤2, F≥3  |  Lost Customers: all remaining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0" y="2743200"/>
            <a:ext cx="2926080" cy="2148840"/>
          </a:xfrm>
          <a:prstGeom prst="rect">
            <a:avLst/>
          </a:prstGeom>
          <a:solidFill>
            <a:srgbClr val="F1F4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943600" y="2743200"/>
            <a:ext cx="292608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0350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Workflow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320040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KNIME Workflow Screenshot Here]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Excel Reader → Row Filter (Shipped) → GroupBy (RFM) → Math Formula (scoring) → Rule Engine (segments)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Analysis: Output &amp; Segment Distribution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customers scored and classified into 4 segments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822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RFM Output Table (Top 8 Customers)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20624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 Shopping Channel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$741,513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Australian Collectors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$200,995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Anna's Decorations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$153,996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 Souveniers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$172,990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 Stores, Co.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$157,808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Baane Mini Imports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$116,599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Toys4GrownUps.com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$60,289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Coast Collectables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$46,085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3794760"/>
            <a:ext cx="19659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5720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analysed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468880" y="3794760"/>
            <a:ext cx="196596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9"/>
          <p:cNvSpPr/>
          <p:nvPr/>
        </p:nvSpPr>
        <p:spPr>
          <a:xfrm>
            <a:off x="256032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days since last order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65760" y="4389120"/>
            <a:ext cx="1965960" cy="50292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57200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orders per customer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468880" y="4389120"/>
            <a:ext cx="1965960" cy="50292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2560320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Monetary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560320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$101,338 total spend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Insights: Customer Segments Deep Dive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all four segments with representative customers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Customers  (24)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recency, frequency &amp; spend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27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Euro Shopping Channel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Australian Collectors, Co.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02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Anna's Decorations, Ltd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Dragon Souveniers, Ltd.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78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Cruz &amp; Sons Co.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 (19)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buyers with moderate spend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 Stores, Co.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Alpha Cognac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151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Australian Gift Network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Canal Petit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6268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Atelier graphique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77724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46320" y="822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/ Churning  (11)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but haven't bought recently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527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Baane Mini Imports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764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Blauer See Auto, Co.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002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Danish Wholesale Imports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240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Diecast Classics Inc.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478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Herkku Gifts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38404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84632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  (35)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for 400+ days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675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Toys4GrownUps.com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913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 Decker Gift Stores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151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West Coast Collectables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4389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 Collectibles Ltd.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46268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Daedalus Designs Imports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7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Recommendations by Customer Segment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920240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Exclusive loyalty programme &amp; VIP membership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Early access to new Classic Cars inventory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Personalised account managers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Annual loyalty rewards &amp; recognition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920240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Upsell from Small to Medium deals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Targeted cross-sell: Motorcycles → Planes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1056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Quarterly re-engagement emails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4439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Volume discount incentives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46320" y="877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/ Churning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325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Urgent win-back campaigns with discounts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"We miss you" personalised outreach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0025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Survey to understand pain points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3408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Time-limited special offers (30 days)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46320" y="29809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4290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Low-cost reactivation email series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7673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Highlight new product lines (Vintage Cars)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1056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One-time reactivation discount (15%)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44439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Consider de-prioritising after 2 attempts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Focus retention efforts on Best &amp; Loyal segments while deploying targeted win-back campaigns for At-Risk customers to maximise ROI.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7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0" y="4389120"/>
            <a:ext cx="5943600" cy="754380"/>
          </a:xfrm>
          <a:prstGeom prst="rect">
            <a:avLst/>
          </a:prstGeom>
          <a:solidFill>
            <a:srgbClr val="F4A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– Auto Sales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64008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74720" y="64008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11880" y="658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39% from 2018 to 2019 with strong Q4 seasonality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14300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11880" y="1161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account for 39% of total revenue — highest value 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64592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474720" y="164592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1188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generates 34% of global revenue; Europe is the #2 market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14884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474720" y="214884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1188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Best Customers drive disproportionate revenue — protect them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65176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74720" y="265176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11880" y="2670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Lost Customers (39%) need reactivation or de-prioritisation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15468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474720" y="315468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1188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At-Risk customers represent immediate churn prevention opportunity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657600"/>
            <a:ext cx="5303520" cy="438912"/>
          </a:xfrm>
          <a:prstGeom prst="rect">
            <a:avLst/>
          </a:prstGeom>
          <a:solidFill>
            <a:srgbClr val="1A25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474720" y="3657600"/>
            <a:ext cx="54864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11880" y="3675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deal size (61% of revenue) is the prime upsell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4074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PresentationFormat>On-screen Show (16:9)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Sales – RFM Customer Segmentation</dc:title>
  <dc:subject>PptxGenJS Presentation</dc:subject>
  <dc:creator>PptxGenJS</dc:creator>
  <cp:lastModifiedBy>Morris Maina</cp:lastModifiedBy>
  <cp:revision>2</cp:revision>
  <dcterms:created xsi:type="dcterms:W3CDTF">2026-04-08T10:41:10Z</dcterms:created>
  <dcterms:modified xsi:type="dcterms:W3CDTF">2026-04-08T17:34:08Z</dcterms:modified>
</cp:coreProperties>
</file>
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Top 15 Products by Purchase Frequency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Appearances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poultry</c:v>
                </c:pt>
                <c:pt idx="1">
                  <c:v>soda</c:v>
                </c:pt>
                <c:pt idx="2">
                  <c:v>cereals</c:v>
                </c:pt>
                <c:pt idx="3">
                  <c:v>ice cream</c:v>
                </c:pt>
                <c:pt idx="4">
                  <c:v>cheeses</c:v>
                </c:pt>
                <c:pt idx="5">
                  <c:v>waffles</c:v>
                </c:pt>
                <c:pt idx="6">
                  <c:v>soap</c:v>
                </c:pt>
                <c:pt idx="7">
                  <c:v>lunch meat</c:v>
                </c:pt>
                <c:pt idx="8">
                  <c:v>bagels</c:v>
                </c:pt>
                <c:pt idx="9">
                  <c:v>eggs</c:v>
                </c:pt>
                <c:pt idx="10">
                  <c:v>juice</c:v>
                </c:pt>
                <c:pt idx="11">
                  <c:v>toilet paper</c:v>
                </c:pt>
                <c:pt idx="12">
                  <c:v>dinner rolls</c:v>
                </c:pt>
                <c:pt idx="13">
                  <c:v>aluminum foil</c:v>
                </c:pt>
                <c:pt idx="14">
                  <c:v>coffee/tea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640</c:v>
                </c:pt>
                <c:pt idx="1">
                  <c:v>597</c:v>
                </c:pt>
                <c:pt idx="2">
                  <c:v>591</c:v>
                </c:pt>
                <c:pt idx="3">
                  <c:v>579</c:v>
                </c:pt>
                <c:pt idx="4">
                  <c:v>578</c:v>
                </c:pt>
                <c:pt idx="5">
                  <c:v>575</c:v>
                </c:pt>
                <c:pt idx="6">
                  <c:v>574</c:v>
                </c:pt>
                <c:pt idx="7">
                  <c:v>573</c:v>
                </c:pt>
                <c:pt idx="8">
                  <c:v>573</c:v>
                </c:pt>
                <c:pt idx="9">
                  <c:v>570</c:v>
                </c:pt>
                <c:pt idx="10">
                  <c:v>570</c:v>
                </c:pt>
                <c:pt idx="11">
                  <c:v>569</c:v>
                </c:pt>
                <c:pt idx="12">
                  <c:v>567</c:v>
                </c:pt>
                <c:pt idx="13">
                  <c:v>566</c:v>
                </c:pt>
                <c:pt idx="14">
                  <c:v>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57-47C2-8909-5D23191F8D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Quarterly Orders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3D-444D-A701-D97FEDFC39C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93D-444D-A701-D97FEDFC39C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93D-444D-A701-D97FEDFC39C1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3D-444D-A701-D97FEDFC39C1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93D-444D-A701-D97FEDFC39C1}"/>
              </c:ext>
            </c:extLst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93D-444D-A701-D97FEDFC39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2018 Q1</c:v>
                </c:pt>
                <c:pt idx="1">
                  <c:v>2018 Q2</c:v>
                </c:pt>
                <c:pt idx="2">
                  <c:v>2018 Q3</c:v>
                </c:pt>
                <c:pt idx="3">
                  <c:v>2019 Q1</c:v>
                </c:pt>
                <c:pt idx="4">
                  <c:v>2019 Q2</c:v>
                </c:pt>
                <c:pt idx="5">
                  <c:v>2019 Q3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</c:v>
                </c:pt>
                <c:pt idx="1">
                  <c:v>178</c:v>
                </c:pt>
                <c:pt idx="2">
                  <c:v>180</c:v>
                </c:pt>
                <c:pt idx="3">
                  <c:v>180</c:v>
                </c:pt>
                <c:pt idx="4">
                  <c:v>170</c:v>
                </c:pt>
                <c:pt idx="5">
                  <c:v>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93D-444D-A701-D97FEDFC39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Monthly Orders: 2018 vs 2019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 Orders</c:v>
                </c:pt>
              </c:strCache>
            </c:strRef>
          </c:tx>
          <c:spPr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</c:v>
                </c:pt>
                <c:pt idx="1">
                  <c:v>60</c:v>
                </c:pt>
                <c:pt idx="2">
                  <c:v>59</c:v>
                </c:pt>
                <c:pt idx="3">
                  <c:v>59</c:v>
                </c:pt>
                <c:pt idx="4">
                  <c:v>60</c:v>
                </c:pt>
                <c:pt idx="5">
                  <c:v>58</c:v>
                </c:pt>
                <c:pt idx="6">
                  <c:v>61</c:v>
                </c:pt>
                <c:pt idx="7">
                  <c:v>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200-470D-872D-122CC7ADFE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 Orders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60</c:v>
                </c:pt>
                <c:pt idx="1">
                  <c:v>59</c:v>
                </c:pt>
                <c:pt idx="2">
                  <c:v>61</c:v>
                </c:pt>
                <c:pt idx="3">
                  <c:v>56</c:v>
                </c:pt>
                <c:pt idx="4">
                  <c:v>54</c:v>
                </c:pt>
                <c:pt idx="5">
                  <c:v>61</c:v>
                </c:pt>
                <c:pt idx="6">
                  <c:v>52</c:v>
                </c:pt>
                <c:pt idx="7">
                  <c:v>54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200-470D-872D-122CC7ADF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Top Item Pairs by Co-occurrence Frequency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Co-occurrence count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Mixes + Dishwashing Liquid</c:v>
                </c:pt>
                <c:pt idx="1">
                  <c:v>Eggs + Soda</c:v>
                </c:pt>
                <c:pt idx="2">
                  <c:v>Juice + Shampoo</c:v>
                </c:pt>
                <c:pt idx="3">
                  <c:v>Juice + Spaghetti Sauce</c:v>
                </c:pt>
                <c:pt idx="4">
                  <c:v>Pasta + Paper Towels</c:v>
                </c:pt>
                <c:pt idx="5">
                  <c:v>Individual Meals + Sandwich Loaves</c:v>
                </c:pt>
                <c:pt idx="6">
                  <c:v>Juice + Toilet Paper</c:v>
                </c:pt>
                <c:pt idx="7">
                  <c:v>Sandwich Bags + Ketchup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205</c:v>
                </c:pt>
                <c:pt idx="1">
                  <c:v>213</c:v>
                </c:pt>
                <c:pt idx="2">
                  <c:v>194</c:v>
                </c:pt>
                <c:pt idx="3">
                  <c:v>196</c:v>
                </c:pt>
                <c:pt idx="4">
                  <c:v>187</c:v>
                </c:pt>
                <c:pt idx="5">
                  <c:v>182</c:v>
                </c:pt>
                <c:pt idx="6">
                  <c:v>196</c:v>
                </c:pt>
                <c:pt idx="7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9-4DAE-A5B6-219350085C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13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0" y="4389120"/>
            <a:ext cx="5486400" cy="7543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&amp; Combo Recommendations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097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5544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Data Analysis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3192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2018 – Aug 2019  |  1,139 Orders  |  37 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4462272"/>
            <a:ext cx="4846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 and 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0292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02336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MBA matters for this grocery store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02336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15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variables, date range &amp;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02336" y="3794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950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by time, product frequency &amp; order patterns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50292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91456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methodology &amp; KNIME workflow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50292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791456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Identified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2715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 pairs with support, confidence &amp; lift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754880" y="3474720"/>
            <a:ext cx="50292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791456" y="3794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Recommendations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950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Revenue-boosting combos, discounts &amp; bundle offers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A grocery store shared POS data with the objective of identifying commonly purchased item sets, discovering association rules, and designing combo/discount offers to increase revenue.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analytical objectives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3035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grocery store shared transactional (POS) data for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lacks visibility into which products are purchased together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offers and promotions are not data-driven — revenue opportunities are missed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understanding of seasonal patterns or order frequency trends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POS data for trends across time and product categories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Market Basket Analysis (Apriori algorithm) to find frequent itemsets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association rules (support, confidence, lift)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profitable combo deals and discount strategies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868680"/>
            <a:ext cx="2926080" cy="40233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3504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Market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Analysis?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Reveals hidden product affinities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2194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targeted promotions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2606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Increases basket size per visit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stock-out impact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shelf placement strategy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3504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Personalises customer offers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4251960"/>
            <a:ext cx="2926080" cy="5486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035040" y="4270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drives an average 10–20%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 in retail studies.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structure, variables and quality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64008" cy="8686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1288390"/>
            <a:ext cx="141732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749808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057400" y="749808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9456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1288390"/>
            <a:ext cx="141732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749808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749040" y="749808"/>
            <a:ext cx="64008" cy="8686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8620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86200" y="1288390"/>
            <a:ext cx="141732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749808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40680" y="749808"/>
            <a:ext cx="64008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7784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1288390"/>
            <a:ext cx="141732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749808"/>
            <a:ext cx="1600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132320" y="749808"/>
            <a:ext cx="64008" cy="8686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269480" y="841248"/>
            <a:ext cx="1417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2019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69480" y="1288390"/>
            <a:ext cx="141732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5029200" cy="1188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the order was placed (DD-MM-YYYY)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transaction/basket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grocery product purchased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3657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 ≈ 18.1 items per order (20,641 rows / 1,139 orders)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3995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 20 full months — sufficient for seasonal trend analysis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4334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37 products appear frequently; no rare-item skew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values; straightforward many-to-one structure (products → orders)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1737360"/>
            <a:ext cx="32918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5577840" y="1737360"/>
            <a:ext cx="329184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56692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6928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null values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6692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Consistent date format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669280" y="3035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 names normalised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669280" y="3465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Some orders have only 1 item — excluded from MBA (single items cannot form pairs)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669280" y="3895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2020 data absent — dataset ends Aug 2019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669280" y="4325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Min support set at 5% to capture meaningful patterns across 1,139 orders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Product Frequency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37 products appear with similar frequency — a balanced assortment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06240"/>
            <a:ext cx="274320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spread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range 540–640 — no single dominant SKU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4206240"/>
            <a:ext cx="274320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38328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leads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appearances — appears in 56% of all baskets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4206240"/>
            <a:ext cx="2743200" cy="7315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30936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overlap potential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0936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frequency band means many co-purchase pairings are viable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Order Volume Trends Over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order volumes across 2018–2019 showing seasonal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303520" y="822960"/>
          <a:ext cx="35661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13632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5"/>
          <p:cNvSpPr/>
          <p:nvPr/>
        </p:nvSpPr>
        <p:spPr>
          <a:xfrm>
            <a:off x="365760" y="3913632"/>
            <a:ext cx="64008" cy="9601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50292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volumes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~55–61 orders per month — consistent demand throughout the year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91840" y="3913632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3291840" y="3913632"/>
            <a:ext cx="64008" cy="9601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342900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2019 dip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decline in mid-2019 — potential seasonal slowdown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3913632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217920" y="3913632"/>
            <a:ext cx="64008" cy="9601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35508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533 → 507 orders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5508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4.9% decline from 2018 to 2019 full year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Basket Size &amp; Category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 and category coverage per order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9601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1372514"/>
            <a:ext cx="1828800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items per basket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77724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14600" y="77724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51760" y="86868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1372514"/>
            <a:ext cx="1828800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86868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0600" y="1372514"/>
            <a:ext cx="1828800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baskets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77724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12280" y="777240"/>
            <a:ext cx="64008" cy="9601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949440" y="86868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1372514"/>
            <a:ext cx="1828800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 rows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20240"/>
            <a:ext cx="841248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Groups &amp; MBA Relevance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poultry, pork, lunch meat, eggs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2423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proteins anchor many baskets — strong combo candidates with condiments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25496"/>
            <a:ext cx="8138160" cy="9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4864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Bakery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57400" y="2880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cheeses, yogurt, bagels, waffles, dinner rolls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co-purchased; shelf adjacency and breakfast combos are high-ROI opportunities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282696"/>
            <a:ext cx="8138160" cy="9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4864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57400" y="3337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soda, juice, coffee/tea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337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appear with nearly every category — ideal as combo add-ons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739896"/>
            <a:ext cx="8138160" cy="9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48640" y="3794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&amp; Cleaning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57400" y="3794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soap, toilet paper, aluminum foil, paper towels, dishwashing liquid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794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staples with predictable purchase patterns; bundle deals drive basket size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197096"/>
            <a:ext cx="8138160" cy="9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48640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5740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cereals, pasta, spaghetti sauce, ketchup, mixes, sandwich bags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pair associations found — spaghetti sauce + pasta, mixes + dishwashing liquid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5740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31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Insight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Frequently Co-Purchased Item Pairs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that appear together most often in the same basket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822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Rates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170432"/>
            <a:ext cx="2834640" cy="347472"/>
          </a:xfrm>
          <a:prstGeom prst="rect">
            <a:avLst/>
          </a:prstGeom>
          <a:solidFill>
            <a:srgbClr val="F1F6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080760" y="1188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+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63840" y="1188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1545336"/>
            <a:ext cx="28346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080760" y="1563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+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0" y="15636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920240"/>
            <a:ext cx="2834640" cy="347472"/>
          </a:xfrm>
          <a:prstGeom prst="rect">
            <a:avLst/>
          </a:prstGeom>
          <a:solidFill>
            <a:srgbClr val="F1F6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08076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+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863840" y="1938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2295144"/>
            <a:ext cx="28346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080760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+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863840" y="2313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2670048"/>
            <a:ext cx="2834640" cy="347472"/>
          </a:xfrm>
          <a:prstGeom prst="rect">
            <a:avLst/>
          </a:prstGeom>
          <a:solidFill>
            <a:srgbClr val="F1F6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08076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+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863840" y="26883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35040" y="3044952"/>
            <a:ext cx="28346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08076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Meals +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863840" y="3063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3419856"/>
            <a:ext cx="2834640" cy="347472"/>
          </a:xfrm>
          <a:prstGeom prst="rect">
            <a:avLst/>
          </a:prstGeom>
          <a:solidFill>
            <a:srgbClr val="F1F6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08076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+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863840" y="3438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35040" y="3794760"/>
            <a:ext cx="28346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080760" y="3813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Bags +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863840" y="38130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All top pairs exceed 16% support — they appear together in at least 1 in 6 orders. This provides a solid foundation for combo promotions.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Analysis: Methodology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 and association rule metrics explained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743200" cy="19202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all orders contain BOTH items?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Support(A→B) = Count(A∩B) / Total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 5% (56+ orders)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22960"/>
            <a:ext cx="2743200" cy="1920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9184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customer buys A, how likely are they to buy B?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Conf(A→B) = Support(A∩B) / Support(A)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 30% probability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743200" cy="19202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21792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2984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likely than by chance?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 = positive association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1 = no association (independent)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 Steps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192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transaction matrix (one row per order, one column per product)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5753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all frequent 1-itemsets with support ≥ 5%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8313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candidate 2-itemsets from frequent 1-itemsets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0873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Prune 2-itemsets with support &lt; 5% (Apriori property)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Compute confidence and lift for each association rule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599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Filter: confidence ≥ 30%; rank by lift descending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2880360"/>
            <a:ext cx="2926080" cy="2011680"/>
          </a:xfrm>
          <a:prstGeom prst="rect">
            <a:avLst/>
          </a:prstGeom>
          <a:solidFill>
            <a:srgbClr val="F1F6E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943600" y="2880360"/>
            <a:ext cx="292608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0350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Workflow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33375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KNIME Workflow Screenshot Here]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CSV Reader → Transpose → Apriori → Association Rule → Filter → Sorter (by Lift)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MBA: Threshold Values &amp; Rule Generation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choices and resulting rule statistics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2743200" cy="3840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pair must appear in at least 56 of 1,139 orders to be considered frequent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91840" y="804672"/>
            <a:ext cx="27432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83280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Confidence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234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item A is purchased, item B must appear in at least 30% of those baskets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217920" y="804672"/>
            <a:ext cx="2743200" cy="38404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309360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Lift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234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9360" y="169164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rules showing a positive association (above chance) are retained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64008" cy="8686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18288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2920" y="3327502"/>
            <a:ext cx="182880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1-itemsets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78892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514600" y="278892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651760" y="2880360"/>
            <a:ext cx="18288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" y="3327502"/>
            <a:ext cx="182880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rules generated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64008" cy="8686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00600" y="2880360"/>
            <a:ext cx="18288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00600" y="3327502"/>
            <a:ext cx="182880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lift value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2788920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812280" y="2788920"/>
            <a:ext cx="64008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949440" y="2880360"/>
            <a:ext cx="18288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0.187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49440" y="3327502"/>
            <a:ext cx="182880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support value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1F6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0292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for Threshold Selection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1422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minimum support ensures we focus on truly prevalent patterns — at least 56 transactions confirm each pair. A 30% confidence threshold balances rule selectivity with actionability; lower thresholds would produce too many weak rules. Lift &gt; 1 ensures all recommended combos represent genuine customer affinity rather than coincidence.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Identified: Top Rules by Lift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product affinities in the grocery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4114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Customer Buys…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Also Buys…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Dishwashing Liquid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Shampoo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Spaghetti Sauce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Towels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Meals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Sandwich Loaves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Toilet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Sandwich Bags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Ketchup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 Foil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lift values &gt; 1.19 — confirming genuine positive association between each pair. Confidence 42–48%: nearly half of customers buying the antecedent also buy the consequent.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Associations: Interpreting Support, Confidence &amp; Lift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using the top association rule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 Mixes  →  Dishwashing Liquid / Detergent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18.0%  →  This pair appears in 205 of 1,139 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46.4%  →  46 out of every 100 customers who buy Mixes also buy Dishwashing Liquid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1.234  →  Customers who buy Mixes are 23.4% MORE likely to buy Dishwashing Liquid than the average shopper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2743200" cy="3840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common is this pair?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support = niche product; High = mainstream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= too rare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 = moderate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15% = strong prevalence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91840" y="2651760"/>
            <a:ext cx="27432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83280" y="2688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reliably does A predict B?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personalised recommendations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= weak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= moderate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 = strong predictor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6517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2743200" cy="38404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309360" y="2688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Strength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more than coincidence?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1: independent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1: genuine affinity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1.0–1.1 = marginal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1.1–1.2 = moderate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1.2 = strong affinity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Offers &amp; Discount 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Revenue-boosting strategies derived from association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274320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38912" y="850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"Baking &amp; Clean" Bundle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Mixes + Dishwashing Liquid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5544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Buy Mixes, get 15% off Dishwashing Liquid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0665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Lift 1.234 — strongest association in the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804672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91840" y="804672"/>
            <a:ext cx="274320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64992" y="850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"Breakfast Power" Pack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Eggs + Soda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15544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Bundle: 12-pack eggs + 2L soda — save 12%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20665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18.7% support — appears in 213 orders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804672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17920" y="804672"/>
            <a:ext cx="2743200" cy="3657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91072" y="850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"Fresh &amp; Clean" 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Juice + Shampoo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91072" y="15544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Buy any juice 6-pack, get 10% off shampoo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91072" y="20665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Conf 45.2% — reliable cross-department purchase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53512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65760" y="2953512"/>
            <a:ext cx="27432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38912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"Italian Night" Combo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3924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Pasta + Spaghetti Sauce + Juice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" y="3703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"Dinner for Two" deal — 3 items, 18% off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" y="421538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pasta→sauce and juice→sauce rules confirmed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2953512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291840" y="2953512"/>
            <a:ext cx="2743200" cy="3657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364992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"Pantry Essentials" Box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64992" y="33924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Sandwich Bags + Ketchup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3703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Buy 2 get 1: any sandwich bag size + ketchup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421538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Conf 44.6%, lift 1.20 — reliable household pair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2953512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217920" y="2953512"/>
            <a:ext cx="274320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291072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"Morning Routine" Bundle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91072" y="33924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Yogurt + Juice + Aluminum Foil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91072" y="3703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Meal prep bundle — weekly subscription -10%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91072" y="421538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Yogurt↔juice and yogurt↔foil both confirmed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Marketing Strategies &amp; Implementation Roadmap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737360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84048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Placement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associated products in adjacent aisles or co-display bays. Pasta next to spaghetti sauce; eggs near soda fridges.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114800" cy="1737360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1148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Promotions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"Customers also bought" suggestions. Trigger juice discount when shampoo is added to digital cart.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14800" cy="1737360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4632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29844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double points when combo pairs are purchased together. Track redemptions to measure lift improvement.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114800" cy="1737360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0" y="2798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Bundles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186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Back-to-school: individual meals + sandwich loaves. Weekend BBQ: poultry + soda + ketchup bundle.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Priority: Start with shelf adjacency and digital promotions (low cost, fast ROI), then build loyalty programme bundles based on first 90 days of combo performance data.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0" y="4389120"/>
            <a:ext cx="5943600" cy="7543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– Grocery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64008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74720" y="64008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11880" y="658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1,139 orders and 37 products analysed across 20 months of POS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14300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11880" y="1161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 of 18.1 items — indicating large, regular shopping trips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64592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474720" y="164592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1188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37 products show similar purchase frequency — a well-balanced assortment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14884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474720" y="214884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1188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rule: Mixes → Dishwashing Liquid (lift 1.234, confidence 46.4%)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65176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74720" y="265176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11880" y="2670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+ Soda is the most supported pair (18.7% of all orders)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15468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474720" y="315468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1188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high-ROI combo bundles designed from top association rules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657600"/>
            <a:ext cx="5303520" cy="438912"/>
          </a:xfrm>
          <a:prstGeom prst="rect">
            <a:avLst/>
          </a:prstGeom>
          <a:solidFill>
            <a:srgbClr val="1A3A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474720" y="3657600"/>
            <a:ext cx="54864" cy="43891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11880" y="3675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adjacency and digital promotions recommended as first implementation steps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4074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1938</Words>
  <Application>Microsoft Office PowerPoint</Application>
  <PresentationFormat>On-screen Show (16:9)</PresentationFormat>
  <Paragraphs>365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Store – Market Basket Analysis</dc:title>
  <dc:subject>PptxGenJS Presentation</dc:subject>
  <dc:creator>PptxGenJS</dc:creator>
  <cp:lastModifiedBy>Morris Maina</cp:lastModifiedBy>
  <cp:revision>2</cp:revision>
  <dcterms:created xsi:type="dcterms:W3CDTF">2026-04-08T10:44:39Z</dcterms:created>
  <dcterms:modified xsi:type="dcterms:W3CDTF">2026-04-08T17:33:07Z</dcterms:modified>
</cp:coreProperties>
</file>